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problem framing only. Requirement IDs organise the discussion; they do not imply standards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grounded in README execution order. Exact branch implementation should still be demonstrated from 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fabricated patterns. If showing code, switch to the real app.py and explain its actual lists and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actual terminal to confirm the installed model tag and runtime behaviour. Do not infer quantisation from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UNSAFE_OUTPUT_PATTERNS is named in the source description, but exact entries should be shown only from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T-01 plus two guardrail-triggering tests in the live recording. Leave results blank until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threat model scoped to the prototype. Mitigations are future work, not implemented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close. Do not attempt to present all eight slides in detail. Keep the terminal central and conclude with the evidence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138A8A"/>
                </a:solidFill>
              </a:rPr>
              <a:t>LOCAL HEALTHCARE AI GUARDRAILS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0" y="201168"/>
            <a:ext cx="5715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Repository-grounded engineering analysis • MSc Artificial Intelligence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565392"/>
            <a:ext cx="1133856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620256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Prototype, not a medical device • actual terminal evidence remains essential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CONTRACT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Definition, System Contract and Safety Requirements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53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CONTRACT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84832" y="135331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CERTIFICATION CLAIM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8912" y="1755648"/>
            <a:ext cx="9144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105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53312" y="1755648"/>
            <a:ext cx="402336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18105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76672" y="1755648"/>
            <a:ext cx="28346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181051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location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11312" y="1755648"/>
            <a:ext cx="35204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18105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method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" y="2139696"/>
            <a:ext cx="9144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185416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FR-01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1353312" y="2139696"/>
            <a:ext cx="40233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08176" y="2185416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a CLI question and manage the interaction loop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376672" y="2139696"/>
            <a:ext cx="28346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2185416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main()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211312" y="2139696"/>
            <a:ext cx="35204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2185416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python app.py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8912" y="2660904"/>
            <a:ext cx="91440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706624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FR-02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353312" y="2660904"/>
            <a:ext cx="402336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2706624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input before model invocation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376672" y="2660904"/>
            <a:ext cx="283464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2706624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check_input()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211312" y="2660904"/>
            <a:ext cx="352044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2706624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diagnosis, medication and urgent cases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38912" y="3182112"/>
            <a:ext cx="9144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" y="3227832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FR-03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353312" y="3182112"/>
            <a:ext cx="40233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8176" y="3227832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Invoke qwen2.5:3b through Ollama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5376672" y="3182112"/>
            <a:ext cx="28346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31536" y="3227832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ask_local_model()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8211312" y="3182112"/>
            <a:ext cx="35204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66176" y="3227832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configured identifier; execute benign case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38912" y="3703320"/>
            <a:ext cx="91440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374904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FR-04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1353312" y="3703320"/>
            <a:ext cx="402336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08176" y="3749040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generated text before display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376672" y="3703320"/>
            <a:ext cx="283464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31536" y="3749040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check_output()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211312" y="3703320"/>
            <a:ext cx="3520440" cy="521208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66176" y="3749040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deliberately unsafe-output example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38912" y="4224528"/>
            <a:ext cx="9144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4270248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SR-01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1353312" y="4224528"/>
            <a:ext cx="40233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08176" y="4270248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 diagnosis / personalised medication; escalate selected emergency language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5376672" y="4224528"/>
            <a:ext cx="28346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31536" y="4270248"/>
            <a:ext cx="2724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refusal_message() + input rules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8211312" y="4224528"/>
            <a:ext cx="35204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66176" y="4270248"/>
            <a:ext cx="3410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fixed response with expected category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438912" y="4828032"/>
            <a:ext cx="550468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4983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 use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5230368"/>
            <a:ext cx="50749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0020" indent="-160020">
              <a:buSzPct val="100000"/>
              <a:buChar char="•"/>
            </a:pPr>
            <a:r>
              <a:rPr lang="en-US" sz="1050" dirty="0">
                <a:solidFill>
                  <a:srgbClr val="425466"/>
                </a:solidFill>
              </a:rPr>
              <a:t>General healthcare information only</a:t>
            </a:r>
            <a:endParaRPr lang="en-US" sz="1050" dirty="0"/>
          </a:p>
          <a:p>
            <a:pPr marL="160020" indent="-160020">
              <a:buSzPct val="100000"/>
              <a:buChar char="•"/>
            </a:pPr>
            <a:r>
              <a:rPr lang="en-US" sz="1050" dirty="0">
                <a:solidFill>
                  <a:srgbClr val="425466"/>
                </a:solidFill>
              </a:rPr>
              <a:t>Understandable, predictable and testable blocking</a:t>
            </a:r>
            <a:endParaRPr lang="en-US" sz="1050" dirty="0"/>
          </a:p>
          <a:p>
            <a:pPr marL="160020" indent="-160020">
              <a:buSzPct val="100000"/>
              <a:buChar char="•"/>
            </a:pPr>
            <a:r>
              <a:rPr lang="en-US" sz="1050" dirty="0">
                <a:solidFill>
                  <a:srgbClr val="425466"/>
                </a:solidFill>
              </a:rPr>
              <a:t>Local-runtime design after model download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72200" y="4828032"/>
            <a:ext cx="5559552" cy="1078992"/>
          </a:xfrm>
          <a:prstGeom prst="roundRect">
            <a:avLst>
              <a:gd name="adj" fmla="val 6780"/>
            </a:avLst>
          </a:prstGeom>
          <a:solidFill>
            <a:srgbClr val="FBEAEC"/>
          </a:solidFill>
          <a:ln w="12700">
            <a:solidFill>
              <a:srgbClr val="EBC2C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49834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exclusions and assumptions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73368" y="5230368"/>
            <a:ext cx="5120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425466"/>
                </a:solidFill>
              </a:rPr>
              <a:t>No diagnosis, prescribing or replacement of a qualified professional</a:t>
            </a:r>
            <a:endParaRPr lang="en-US" sz="1020" dirty="0"/>
          </a:p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425466"/>
                </a:solidFill>
              </a:rPr>
              <a:t>Keyword rules may miss or wrongly match language</a:t>
            </a:r>
            <a:endParaRPr lang="en-US" sz="1020" dirty="0"/>
          </a:p>
          <a:p>
            <a:pPr marL="155448" indent="-155448">
              <a:buSzPct val="100000"/>
              <a:buChar char="•"/>
            </a:pPr>
            <a:r>
              <a:rPr lang="en-US" sz="1020" dirty="0">
                <a:solidFill>
                  <a:srgbClr val="425466"/>
                </a:solidFill>
              </a:rPr>
              <a:t>Privacy, network independence and clinical validity are not established</a:t>
            </a:r>
            <a:endParaRPr lang="en-US" sz="102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Architecture and Control-Flow Boundaries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874520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3911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CLI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main()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27632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8745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20391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screening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47672" y="23042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check_input()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46704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18745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203911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invocation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58184" y="23042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ask_local_model()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57216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3248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0391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runtime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0" y="230428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client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93992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0391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qwen2.5:3b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9752" y="230428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DDE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configured model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67344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1874520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9952" y="203911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screening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59952" y="230428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check_output()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067544" y="2139696"/>
            <a:ext cx="228600" cy="256032"/>
          </a:xfrm>
          <a:prstGeom prst="chevron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187452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51592" y="20391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response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451592" y="23042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accepted / refusal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67712" y="3090672"/>
            <a:ext cx="786384" cy="585216"/>
          </a:xfrm>
          <a:prstGeom prst="diamond">
            <a:avLst/>
          </a:prstGeom>
          <a:solidFill>
            <a:srgbClr val="FFF3D6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2552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942832" y="3090672"/>
            <a:ext cx="786384" cy="585216"/>
          </a:xfrm>
          <a:prstGeom prst="diamond">
            <a:avLst/>
          </a:prstGeom>
          <a:solidFill>
            <a:srgbClr val="FFF3D6"/>
          </a:solidFill>
          <a:ln w="12700">
            <a:solidFill>
              <a:srgbClr val="A66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325526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" y="4160520"/>
            <a:ext cx="3246120" cy="1124712"/>
          </a:xfrm>
          <a:prstGeom prst="roundRect">
            <a:avLst>
              <a:gd name="adj" fmla="val 6504"/>
            </a:avLst>
          </a:prstGeom>
          <a:solidFill>
            <a:srgbClr val="FBEAEC"/>
          </a:solidFill>
          <a:ln w="12700">
            <a:solidFill>
              <a:srgbClr val="EBC2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3342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Python control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4608576"/>
            <a:ext cx="278892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Input rejection bypasses Ollama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Fixed category-specific refusal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Output rejection discards generated text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4251960" y="4160520"/>
            <a:ext cx="3520440" cy="1124712"/>
          </a:xfrm>
          <a:prstGeom prst="roundRect">
            <a:avLst>
              <a:gd name="adj" fmla="val 6504"/>
            </a:avLst>
          </a:prstGeom>
          <a:solidFill>
            <a:srgbClr val="DFF3F2"/>
          </a:solidFill>
          <a:ln w="12700">
            <a:solidFill>
              <a:srgbClr val="B7DE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53128" y="43342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Local-inference boundary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53128" y="4608576"/>
            <a:ext cx="30632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Ollama runtime and downloaded model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System + user messages supplied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Offline behaviour requires separate testing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8138160" y="4160520"/>
            <a:ext cx="3593592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43342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generation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39328" y="4608576"/>
            <a:ext cx="3154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Model text is untrusted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Prompt guidance is not enforcement</a:t>
            </a:r>
            <a:endParaRPr lang="en-US" sz="970" dirty="0"/>
          </a:p>
          <a:p>
            <a:pPr marL="147828" indent="-147828">
              <a:buSzPct val="100000"/>
              <a:buChar char="•"/>
            </a:pPr>
            <a:r>
              <a:rPr lang="en-US" sz="970" dirty="0">
                <a:solidFill>
                  <a:srgbClr val="425466"/>
                </a:solidFill>
              </a:rPr>
              <a:t>No privacy or network guarantee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1664208" y="3163824"/>
            <a:ext cx="1069848" cy="27432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64208" y="3163824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PATH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012680" y="3163824"/>
            <a:ext cx="1069848" cy="27432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2680" y="3163824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PATH</a:t>
            </a:r>
            <a:endParaRPr lang="en-US" sz="8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INPUT CONTROLS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Request Screening and Risk Classification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2D6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source-level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check_input(text)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32304"/>
            <a:ext cx="2971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7E3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emergency-related rules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7E3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diagnosis-seeking rules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7E3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medication / dosage rules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7E3E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allow or category result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406908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C5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phrase arrays and check order must be verified directly in app.py during rehearsal. No unverified code excerpt is reproduced.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50749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50749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47088" y="5074920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50749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BRITTLE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572768"/>
            <a:ext cx="118872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62763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1572768"/>
            <a:ext cx="20574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6984" y="16276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Intended control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1572768"/>
            <a:ext cx="19202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1627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09760" y="1572768"/>
            <a:ext cx="2221992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64624" y="162763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limitation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1956816"/>
            <a:ext cx="118872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2002536"/>
            <a:ext cx="1078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Emergency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532120" y="1956816"/>
            <a:ext cx="205740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86984" y="2002536"/>
            <a:ext cx="1947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selected urgent symptoms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589520" y="1956816"/>
            <a:ext cx="192024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2002536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have severe chest pain”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509760" y="1956816"/>
            <a:ext cx="2221992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2002536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Unfamiliar or implicit urgency may be missed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343400" y="2715768"/>
            <a:ext cx="118872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2761488"/>
            <a:ext cx="1078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Diagnosis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532120" y="2715768"/>
            <a:ext cx="205740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2761488"/>
            <a:ext cx="1947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 diagnosis request before inference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589520" y="2715768"/>
            <a:ext cx="192024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2761488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“Do I have diabetes?”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509760" y="2715768"/>
            <a:ext cx="2221992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64624" y="2761488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 wording may be overblocked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343400" y="3474720"/>
            <a:ext cx="118872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98264" y="3520440"/>
            <a:ext cx="1078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Medication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532120" y="3474720"/>
            <a:ext cx="205740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520440"/>
            <a:ext cx="1947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 personalised dosage guidance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589520" y="3474720"/>
            <a:ext cx="1920240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44384" y="3520440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much should I take?”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509760" y="3474720"/>
            <a:ext cx="2221992" cy="7589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64624" y="3520440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 synonyms and context can bypass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343400" y="4233672"/>
            <a:ext cx="118872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98264" y="4279392"/>
            <a:ext cx="1078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Benign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532120" y="4233672"/>
            <a:ext cx="205740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4279392"/>
            <a:ext cx="19476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model invocation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7589520" y="4233672"/>
            <a:ext cx="1920240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44384" y="4279392"/>
            <a:ext cx="1810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explanation request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9509760" y="4233672"/>
            <a:ext cx="2221992" cy="7589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64624" y="4279392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 from partial phrase match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343400" y="5138928"/>
            <a:ext cx="7379208" cy="740664"/>
          </a:xfrm>
          <a:prstGeom prst="roundRect">
            <a:avLst>
              <a:gd name="adj" fmla="val 9877"/>
            </a:avLst>
          </a:prstGeom>
          <a:solidFill>
            <a:srgbClr val="FFF3D6"/>
          </a:solidFill>
          <a:ln w="12700">
            <a:solidFill>
              <a:srgbClr val="E5C9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53035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failure modes: spelling variation • synonym substitution • negation • contextual ambiguity • adversarial paraphrasing • partial matching</a:t>
            </a:r>
            <a:endParaRPr lang="en-US" sz="11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INFERENCE PATH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Language Model Integration and Inference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44168" y="1773936"/>
            <a:ext cx="1" cy="3337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application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38728" y="1773936"/>
            <a:ext cx="1" cy="3337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client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05856" y="1773936"/>
            <a:ext cx="1" cy="3337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3568" y="1773936"/>
            <a:ext cx="1" cy="3337560"/>
          </a:xfrm>
          <a:prstGeom prst="line">
            <a:avLst/>
          </a:prstGeom>
          <a:noFill/>
          <a:ln w="25400">
            <a:solidFill>
              <a:srgbClr val="13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validator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68128" y="1773936"/>
            <a:ext cx="1" cy="3337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4168" y="2057400"/>
            <a:ext cx="2194560" cy="1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17320" y="180136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question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38728" y="2651760"/>
            <a:ext cx="2167128" cy="1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611880" y="239572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 + user messages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05856" y="3246120"/>
            <a:ext cx="2267712" cy="1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779008" y="299008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chat(model="qwen2.5:3b")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5705856" y="3840480"/>
            <a:ext cx="2267712" cy="1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779008" y="358444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generated content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05856" y="4434840"/>
            <a:ext cx="4462272" cy="1"/>
          </a:xfrm>
          <a:prstGeom prst="line">
            <a:avLst/>
          </a:prstGeom>
          <a:noFill/>
          <a:ln w="19050">
            <a:solidFill>
              <a:srgbClr val="0B1F3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779008" y="417880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check_output(content)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5376672"/>
            <a:ext cx="3401568" cy="548640"/>
          </a:xfrm>
          <a:prstGeom prst="roundRect">
            <a:avLst>
              <a:gd name="adj" fmla="val 13333"/>
            </a:avLst>
          </a:prstGeom>
          <a:solidFill>
            <a:srgbClr val="DFF3F2"/>
          </a:solidFill>
          <a:ln w="12700">
            <a:solidFill>
              <a:srgbClr val="B7D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5532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8A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Configured identifier: qwen2.5:3b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24528" y="5376672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 w="12700">
            <a:solidFill>
              <a:srgbClr val="E5C9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553212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failure handling: verify in app.py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65008" y="5376672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BEAEC"/>
          </a:solidFill>
          <a:ln w="12700">
            <a:solidFill>
              <a:srgbClr val="EBC2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55321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≠ security boundary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60990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Unverified: quantisation format • numeric precision • acceleration • memory use • latency • complete offline operation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OUTPUT CONTROLS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Post-Generation Screening and Residual Risk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54480"/>
            <a:ext cx="347472" cy="347472"/>
          </a:xfrm>
          <a:prstGeom prst="ellipse">
            <a:avLst/>
          </a:prstGeom>
          <a:solidFill>
            <a:srgbClr val="DFF3F2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18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25296" y="1536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validation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5270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configured request patterns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59152"/>
            <a:ext cx="347472" cy="347472"/>
          </a:xfrm>
          <a:prstGeom prst="ellipse">
            <a:avLst/>
          </a:prstGeom>
          <a:solidFill>
            <a:srgbClr val="DFF3F2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231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5296" y="234086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guidance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233172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Constrains intended model role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163824"/>
            <a:ext cx="347472" cy="347472"/>
          </a:xfrm>
          <a:prstGeom prst="ellipse">
            <a:avLst/>
          </a:prstGeom>
          <a:solidFill>
            <a:srgbClr val="138A8A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278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25296" y="3145536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inference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88920" y="313639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D7E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untrusted 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968496"/>
            <a:ext cx="347472" cy="347472"/>
          </a:xfrm>
          <a:prstGeom prst="ellipse">
            <a:avLst/>
          </a:prstGeom>
          <a:solidFill>
            <a:srgbClr val="DFF3F2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0325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5296" y="39502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validation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3941064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UNSAFE_OUTPUT_PATTERNS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773168"/>
            <a:ext cx="347472" cy="347472"/>
          </a:xfrm>
          <a:prstGeom prst="ellipse">
            <a:avLst/>
          </a:prstGeom>
          <a:solidFill>
            <a:srgbClr val="DFF3F2"/>
          </a:solidFill>
          <a:ln w="12700">
            <a:solidFill>
              <a:srgbClr val="13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8371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25296" y="47548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/ display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88920" y="474573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Discards unsafe match or displays accepted 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1417320"/>
            <a:ext cx="6126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6276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8A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check_output() contract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33872" y="1975104"/>
            <a:ext cx="5468112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Examines generated text before display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Matches configured unsafe-output phrases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Rejects and discards text when a pattern matches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Cannot validate medical correctness or implied meaning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96128" y="3703320"/>
            <a:ext cx="6126480" cy="1938528"/>
          </a:xfrm>
          <a:prstGeom prst="roundRect">
            <a:avLst>
              <a:gd name="adj" fmla="val 3774"/>
            </a:avLst>
          </a:prstGeom>
          <a:solidFill>
            <a:srgbClr val="FBEAEC"/>
          </a:solidFill>
          <a:ln w="12700">
            <a:solidFill>
              <a:srgbClr val="EBC2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39319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risk after all layers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33872" y="4297680"/>
            <a:ext cx="546811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4592" indent="-164592">
              <a:buSzPct val="100000"/>
              <a:buChar char="•"/>
            </a:pPr>
            <a:r>
              <a:rPr lang="en-US" sz="1080" dirty="0">
                <a:solidFill>
                  <a:srgbClr val="425466"/>
                </a:solidFill>
              </a:rPr>
              <a:t>Unsafe response uses novel wording</a:t>
            </a:r>
            <a:endParaRPr lang="en-US" sz="1080" dirty="0"/>
          </a:p>
          <a:p>
            <a:pPr marL="164592" indent="-164592">
              <a:buSzPct val="100000"/>
              <a:buChar char="•"/>
            </a:pPr>
            <a:r>
              <a:rPr lang="en-US" sz="1080" dirty="0">
                <a:solidFill>
                  <a:srgbClr val="425466"/>
                </a:solidFill>
              </a:rPr>
              <a:t>Incorrect information contains no blocked phrase</a:t>
            </a:r>
            <a:endParaRPr lang="en-US" sz="1080" dirty="0"/>
          </a:p>
          <a:p>
            <a:pPr marL="164592" indent="-164592">
              <a:buSzPct val="100000"/>
              <a:buChar char="•"/>
            </a:pPr>
            <a:r>
              <a:rPr lang="en-US" sz="1080" dirty="0">
                <a:solidFill>
                  <a:srgbClr val="425466"/>
                </a:solidFill>
              </a:rPr>
              <a:t>Safe text triggers a false positive</a:t>
            </a:r>
            <a:endParaRPr lang="en-US" sz="1080" dirty="0"/>
          </a:p>
          <a:p>
            <a:pPr marL="164592" indent="-164592">
              <a:buSzPct val="100000"/>
              <a:buChar char="•"/>
            </a:pPr>
            <a:r>
              <a:rPr lang="en-US" sz="1080" dirty="0">
                <a:solidFill>
                  <a:srgbClr val="425466"/>
                </a:solidFill>
              </a:rPr>
              <a:t>Model complies inconsistently with the prompt</a:t>
            </a:r>
            <a:endParaRPr lang="en-US" sz="1080" dirty="0"/>
          </a:p>
          <a:p>
            <a:pPr marL="164592" indent="-164592">
              <a:buSzPct val="100000"/>
              <a:buChar char="•"/>
            </a:pPr>
            <a:r>
              <a:rPr lang="en-US" sz="1080" dirty="0">
                <a:solidFill>
                  <a:srgbClr val="425466"/>
                </a:solidFill>
              </a:rPr>
              <a:t>No layer guarantees semantic or clinical safety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077456" y="5870448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456" y="58704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DEFENCE IN DEPTH ≠ SAFETY GUARANTEE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Verification and Adversarial Test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417320"/>
            <a:ext cx="9144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4721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53312" y="1417320"/>
            <a:ext cx="214884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147218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class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02152" y="1417320"/>
            <a:ext cx="315468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47218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behaviour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56832" y="1417320"/>
            <a:ext cx="324612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1696" y="1472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observation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02952" y="1417320"/>
            <a:ext cx="1627632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57816" y="14721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1801368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84708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T-01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353312" y="1801368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176" y="184708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general-health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502152" y="1801368"/>
            <a:ext cx="3154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184708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path; general, non-personalised answer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656832" y="1801368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1847088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902952" y="1801368"/>
            <a:ext cx="1627632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7816" y="18470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38912" y="2331720"/>
            <a:ext cx="91440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377440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T-02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1353312" y="2331720"/>
            <a:ext cx="214884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2377440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Diagnosis-seeking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502152" y="2331720"/>
            <a:ext cx="315468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7016" y="2377440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refusal before inference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656832" y="2331720"/>
            <a:ext cx="324612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2377440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902952" y="2331720"/>
            <a:ext cx="1627632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57816" y="2377440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38912" y="2862072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290779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T-03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353312" y="2862072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08176" y="2907792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Medication dosage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3502152" y="2862072"/>
            <a:ext cx="3154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57016" y="2907792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refusal before inference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656832" y="2862072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1696" y="2907792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9902952" y="2862072"/>
            <a:ext cx="1627632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57816" y="2907792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38912" y="3392424"/>
            <a:ext cx="91440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343814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T-04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1353312" y="3392424"/>
            <a:ext cx="214884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08176" y="3438144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Emergency-related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3502152" y="3392424"/>
            <a:ext cx="315468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57016" y="343814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Escalation-oriented fixed response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656832" y="3392424"/>
            <a:ext cx="324612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1696" y="3438144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902952" y="3392424"/>
            <a:ext cx="1627632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57816" y="3438144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38912" y="3922776"/>
            <a:ext cx="914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396849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T-05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1353312" y="3922776"/>
            <a:ext cx="21488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08176" y="3968496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output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3502152" y="3922776"/>
            <a:ext cx="3154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57016" y="3968496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text discarded / safe refusal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656832" y="3922776"/>
            <a:ext cx="3246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11696" y="3968496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9902952" y="3922776"/>
            <a:ext cx="1627632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57816" y="3968496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438912" y="4453128"/>
            <a:ext cx="91440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" y="4498848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T-06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1353312" y="4453128"/>
            <a:ext cx="214884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08176" y="449884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unavailable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3502152" y="4453128"/>
            <a:ext cx="315468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57016" y="449884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handles Ollama failure*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6656832" y="4453128"/>
            <a:ext cx="3246120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11696" y="4498848"/>
            <a:ext cx="3136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9902952" y="4453128"/>
            <a:ext cx="1627632" cy="530352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57816" y="449884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  <p:sp>
        <p:nvSpPr>
          <p:cNvPr id="74" name="Text 72"/>
          <p:cNvSpPr/>
          <p:nvPr/>
        </p:nvSpPr>
        <p:spPr>
          <a:xfrm>
            <a:off x="438912" y="51846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Include T-06 only if the exception path is confirmed in app.py.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38912" y="550468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" y="5605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399032" y="55595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Specified outcome before execution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73552" y="550468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10712" y="5605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233672" y="55595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terminal behaviour recorded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08192" y="550468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45352" y="5605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068312" y="55595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result satisfies expected result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942832" y="550468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3D6"/>
          </a:solidFill>
          <a:ln w="12700">
            <a:solidFill>
              <a:srgbClr val="E5C98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79992" y="56052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902952" y="55595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broader repeated and adversarial evidence</a:t>
            </a:r>
            <a:endParaRPr lang="en-US" sz="900" dirty="0"/>
          </a:p>
        </p:txBody>
      </p:sp>
      <p:sp>
        <p:nvSpPr>
          <p:cNvPr id="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THREAT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Inputs, Failure Modes and Residual Risk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71600"/>
            <a:ext cx="2907792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426464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scenario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46704" y="1371600"/>
            <a:ext cx="242316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1568" y="1426464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control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9864" y="1371600"/>
            <a:ext cx="2743200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24728" y="142646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13064" y="1371600"/>
            <a:ext cx="3218688" cy="384048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1426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opportunity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1755648"/>
            <a:ext cx="290779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01368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Synonym substitution / paraphrase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346704" y="1755648"/>
            <a:ext cx="24231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80136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Phrase-based input and output checks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769864" y="1755648"/>
            <a:ext cx="27432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180136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configured phrase matches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513064" y="1755648"/>
            <a:ext cx="321868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8013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corpus; semantic classifier; regression tests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38912" y="2359152"/>
            <a:ext cx="2907792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404872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Negation or contextual ambiguity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346704" y="2359152"/>
            <a:ext cx="242316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404872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matching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769864" y="2359152"/>
            <a:ext cx="274320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240487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ignored; allow/block error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513064" y="2359152"/>
            <a:ext cx="3218688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67928" y="24048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classification and review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38912" y="2962656"/>
            <a:ext cx="290779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00837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Partial matching / overblocking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3346704" y="2962656"/>
            <a:ext cx="24231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008376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phrase rules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769864" y="2962656"/>
            <a:ext cx="27432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3008376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 request refused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513064" y="2962656"/>
            <a:ext cx="321868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7928" y="30083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cases and precision analysis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38912" y="3566160"/>
            <a:ext cx="2907792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61188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Novel unsafe model wording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3346704" y="3566160"/>
            <a:ext cx="242316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61188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phrase check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769864" y="3566160"/>
            <a:ext cx="274320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24728" y="3611880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implication reaches user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513064" y="3566160"/>
            <a:ext cx="3218688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67928" y="36118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output evaluation; human review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38912" y="4169664"/>
            <a:ext cx="290779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4215384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Ollama unavailable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346704" y="4169664"/>
            <a:ext cx="24231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4215384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call path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5769864" y="4169664"/>
            <a:ext cx="27432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24728" y="4215384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useful response or abrupt failure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8513064" y="4169664"/>
            <a:ext cx="321868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67928" y="42153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exception handling and failure test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438912" y="4773168"/>
            <a:ext cx="2907792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4818888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Incorrect health information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3346704" y="4773168"/>
            <a:ext cx="242316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01568" y="481888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output check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5769864" y="4773168"/>
            <a:ext cx="2743200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24728" y="4818888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Plausible but medically wrong text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8513064" y="4773168"/>
            <a:ext cx="3218688" cy="603504"/>
          </a:xfrm>
          <a:prstGeom prst="rect">
            <a:avLst/>
          </a:prstGeom>
          <a:solidFill>
            <a:srgbClr val="F0F4F7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67928" y="48188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grounding and independent clinical review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438912" y="5376672"/>
            <a:ext cx="2907792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" y="5422392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Unrecognised emergency language</a:t>
            </a:r>
            <a:endParaRPr lang="en-US" sz="880" dirty="0"/>
          </a:p>
        </p:txBody>
      </p:sp>
      <p:sp>
        <p:nvSpPr>
          <p:cNvPr id="62" name="Shape 60"/>
          <p:cNvSpPr/>
          <p:nvPr/>
        </p:nvSpPr>
        <p:spPr>
          <a:xfrm>
            <a:off x="3346704" y="5376672"/>
            <a:ext cx="24231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01568" y="5422392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phrase rules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5769864" y="5376672"/>
            <a:ext cx="27432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24728" y="5422392"/>
            <a:ext cx="2633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to escalate</a:t>
            </a:r>
            <a:endParaRPr lang="en-US" sz="880" dirty="0"/>
          </a:p>
        </p:txBody>
      </p:sp>
      <p:sp>
        <p:nvSpPr>
          <p:cNvPr id="66" name="Shape 64"/>
          <p:cNvSpPr/>
          <p:nvPr/>
        </p:nvSpPr>
        <p:spPr>
          <a:xfrm>
            <a:off x="8513064" y="5376672"/>
            <a:ext cx="3218688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67928" y="54223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 urgent-language set and red-team tests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438912" y="6053328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" y="6053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CLAIM OF PROMPT-INJECTION RESISTANCE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520440" y="60441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corresponding implemented and tested control is established by the repository summary.</a:t>
            </a:r>
            <a:endParaRPr lang="en-US" sz="105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48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ENGINEERING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Reproducibility, Evaluation Limits and Next Steps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38912" y="1371600"/>
            <a:ext cx="3657600" cy="4462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reproducibility assets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3182112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425466"/>
                </a:solidFill>
              </a:rPr>
              <a:t>README.md setup and execution instructions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425466"/>
                </a:solidFill>
              </a:rPr>
              <a:t>requirements.txt dependency installation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425466"/>
                </a:solidFill>
              </a:rPr>
              <a:t>Configured model identifier qwen2.5:3b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425466"/>
                </a:solidFill>
              </a:rPr>
              <a:t>TEST_PLAN.md manual evidence structure</a:t>
            </a:r>
            <a:endParaRPr lang="en-US" sz="1150" dirty="0"/>
          </a:p>
          <a:p>
            <a:pPr marL="175260" indent="-175260">
              <a:buSzPct val="100000"/>
              <a:buChar char="•"/>
            </a:pPr>
            <a:r>
              <a:rPr lang="en-US" sz="1150" dirty="0">
                <a:solidFill>
                  <a:srgbClr val="425466"/>
                </a:solidFill>
              </a:rPr>
              <a:t>CLI entry point: python app.py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5303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303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7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4462272"/>
          </a:xfrm>
          <a:prstGeom prst="roundRect">
            <a:avLst>
              <a:gd name="adj" fmla="val 2000"/>
            </a:avLst>
          </a:prstGeom>
          <a:solidFill>
            <a:srgbClr val="FFF3D6"/>
          </a:solidFill>
          <a:ln w="12700">
            <a:solidFill>
              <a:srgbClr val="E5C9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66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still required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1965960"/>
            <a:ext cx="3182112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Installed model/version confirmation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Offline test after download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Exact observed outputs and failures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False-positive / false-negative evaluation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Runtime resource and latency measurements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Independent assessment before clinical 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17136" y="53035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5303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4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ESTABLISHED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56448" y="1371600"/>
            <a:ext cx="3566160" cy="4462272"/>
          </a:xfrm>
          <a:prstGeom prst="roundRect">
            <a:avLst>
              <a:gd name="adj" fmla="val 2051"/>
            </a:avLst>
          </a:prstGeom>
          <a:solidFill>
            <a:srgbClr val="DFF3F2"/>
          </a:solidFill>
          <a:ln w="12700">
            <a:solidFill>
              <a:srgbClr val="B7DE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6002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roadmap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75904" y="1965960"/>
            <a:ext cx="3090672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Automated unit and regression tests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Systematic negative and boundary testing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Paraphrase and adversarial corpus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Calibrated risk classification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Semantic output validation</a:t>
            </a:r>
            <a:endParaRPr lang="en-US" sz="1100" dirty="0"/>
          </a:p>
          <a:p>
            <a:pPr marL="167640" indent="-167640">
              <a:buSzPct val="100000"/>
              <a:buChar char="•"/>
            </a:pPr>
            <a:r>
              <a:rPr lang="en-US" sz="1100" dirty="0">
                <a:solidFill>
                  <a:srgbClr val="425466"/>
                </a:solidFill>
              </a:rPr>
              <a:t>Independent safety evaluation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75904" y="53035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5303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" y="6035040"/>
            <a:ext cx="11283696" cy="393192"/>
          </a:xfrm>
          <a:prstGeom prst="roundRect">
            <a:avLst>
              <a:gd name="adj" fmla="val 1860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099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conclusion: the prototype demonstrates an auditable layered control flow around local model inference; reliability, offline behaviour, clinical correctness and comprehensive hazard coverage remain unproven.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and Evaluation of Local Healthcare AI Guardrails Using Python and Quantized Small Language Models</dc:title>
  <dc:subject>PptxGenJS Presentation</dc:subject>
  <dc:creator>Narasimha Murthy, Dinakar Nayak</dc:creator>
  <cp:lastModifiedBy>Narasimha Murthy, Dinakar Nayak</cp:lastModifiedBy>
  <cp:revision>2</cp:revision>
  <dcterms:created xsi:type="dcterms:W3CDTF">2026-10-18T05:18:22Z</dcterms:created>
  <dcterms:modified xsi:type="dcterms:W3CDTF">2026-10-18T05:19:47Z</dcterms:modified>
</cp:coreProperties>
</file>